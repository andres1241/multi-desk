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Anonymous Pro Bold" charset="1" panose="02060809030202000504"/>
      <p:regular r:id="rId28"/>
    </p:embeddedFont>
    <p:embeddedFont>
      <p:font typeface="Cousine" charset="1" panose="02070409020205020404"/>
      <p:regular r:id="rId29"/>
    </p:embeddedFont>
    <p:embeddedFont>
      <p:font typeface="Cousine Bold" charset="1" panose="02070709020205020404"/>
      <p:regular r:id="rId30"/>
    </p:embeddedFont>
    <p:embeddedFont>
      <p:font typeface="Canva Sans" charset="1" panose="020B0503030501040103"/>
      <p:regular r:id="rId31"/>
    </p:embeddedFont>
    <p:embeddedFont>
      <p:font typeface="Canva Sans Bold" charset="1" panose="020B08030305010401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18" Target="../media/image11.png" Type="http://schemas.openxmlformats.org/officeDocument/2006/relationships/image"/><Relationship Id="rId19" Target="../media/image12.svg" Type="http://schemas.openxmlformats.org/officeDocument/2006/relationships/image"/><Relationship Id="rId2" Target="../media/image1.png" Type="http://schemas.openxmlformats.org/officeDocument/2006/relationships/image"/><Relationship Id="rId20" Target="../media/image25.png" Type="http://schemas.openxmlformats.org/officeDocument/2006/relationships/image"/><Relationship Id="rId21" Target="../media/image26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27.png" Type="http://schemas.openxmlformats.org/officeDocument/2006/relationships/image"/><Relationship Id="rId19" Target="../media/image28.svg" Type="http://schemas.openxmlformats.org/officeDocument/2006/relationships/image"/><Relationship Id="rId2" Target="../media/image1.png" Type="http://schemas.openxmlformats.org/officeDocument/2006/relationships/image"/><Relationship Id="rId20" Target="../media/image29.png" Type="http://schemas.openxmlformats.org/officeDocument/2006/relationships/image"/><Relationship Id="rId21" Target="../media/image3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33.png" Type="http://schemas.openxmlformats.org/officeDocument/2006/relationships/image"/><Relationship Id="rId17" Target="../media/image3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38.png" Type="http://schemas.openxmlformats.org/officeDocument/2006/relationships/image"/><Relationship Id="rId17" Target="../media/image39.png" Type="http://schemas.openxmlformats.org/officeDocument/2006/relationships/image"/><Relationship Id="rId18" Target="../media/image4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4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44.png" Type="http://schemas.openxmlformats.org/officeDocument/2006/relationships/image"/><Relationship Id="rId17" Target="../media/image45.png" Type="http://schemas.openxmlformats.org/officeDocument/2006/relationships/image"/><Relationship Id="rId18" Target="../media/image46.png" Type="http://schemas.openxmlformats.org/officeDocument/2006/relationships/image"/><Relationship Id="rId19" Target="../media/image4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8.png" Type="http://schemas.openxmlformats.org/officeDocument/2006/relationships/image"/><Relationship Id="rId13" Target="../media/image49.svg" Type="http://schemas.openxmlformats.org/officeDocument/2006/relationships/image"/><Relationship Id="rId14" Target="../media/image50.png" Type="http://schemas.openxmlformats.org/officeDocument/2006/relationships/image"/><Relationship Id="rId15" Target="../media/image51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18" Target="../media/image11.png" Type="http://schemas.openxmlformats.org/officeDocument/2006/relationships/image"/><Relationship Id="rId19" Target="../media/image12.svg" Type="http://schemas.openxmlformats.org/officeDocument/2006/relationships/image"/><Relationship Id="rId2" Target="../media/image1.png" Type="http://schemas.openxmlformats.org/officeDocument/2006/relationships/image"/><Relationship Id="rId20" Target="../media/image38.png" Type="http://schemas.openxmlformats.org/officeDocument/2006/relationships/image"/><Relationship Id="rId21" Target="../media/image52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svg" Type="http://schemas.openxmlformats.org/officeDocument/2006/relationships/image"/><Relationship Id="rId12" Target="../media/image50.png" Type="http://schemas.openxmlformats.org/officeDocument/2006/relationships/image"/><Relationship Id="rId13" Target="../media/image51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18" Target="../media/image11.png" Type="http://schemas.openxmlformats.org/officeDocument/2006/relationships/image"/><Relationship Id="rId19" Target="../media/image12.svg" Type="http://schemas.openxmlformats.org/officeDocument/2006/relationships/image"/><Relationship Id="rId2" Target="../media/image1.png" Type="http://schemas.openxmlformats.org/officeDocument/2006/relationships/image"/><Relationship Id="rId20" Target="../media/image53.png" Type="http://schemas.openxmlformats.org/officeDocument/2006/relationships/image"/><Relationship Id="rId21" Target="../media/image45.png" Type="http://schemas.openxmlformats.org/officeDocument/2006/relationships/image"/><Relationship Id="rId22" Target="../media/image43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18" Target="../media/image25.png" Type="http://schemas.openxmlformats.org/officeDocument/2006/relationships/image"/><Relationship Id="rId19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33.png" Type="http://schemas.openxmlformats.org/officeDocument/2006/relationships/image"/><Relationship Id="rId17" Target="../media/image3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18" Target="../media/image11.png" Type="http://schemas.openxmlformats.org/officeDocument/2006/relationships/image"/><Relationship Id="rId19" Target="../media/image12.svg" Type="http://schemas.openxmlformats.org/officeDocument/2006/relationships/image"/><Relationship Id="rId2" Target="../media/image1.png" Type="http://schemas.openxmlformats.org/officeDocument/2006/relationships/image"/><Relationship Id="rId20" Target="../media/image25.png" Type="http://schemas.openxmlformats.org/officeDocument/2006/relationships/image"/><Relationship Id="rId21" Target="../media/image26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798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550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688263" y="4200563"/>
            <a:ext cx="14911475" cy="2631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12"/>
              </a:lnSpc>
            </a:pPr>
            <a:r>
              <a:rPr lang="en-US" b="true" sz="19712" spc="-670">
                <a:gradFill>
                  <a:gsLst>
                    <a:gs pos="0">
                      <a:srgbClr val="FF2600">
                        <a:alpha val="100000"/>
                      </a:srgbClr>
                    </a:gs>
                    <a:gs pos="100000">
                      <a:srgbClr val="FF0000">
                        <a:alpha val="100000"/>
                      </a:srgbClr>
                    </a:gs>
                  </a:gsLst>
                  <a:lin ang="0"/>
                </a:gradFill>
                <a:latin typeface="Anonymous Pro Bold"/>
                <a:ea typeface="Anonymous Pro Bold"/>
                <a:cs typeface="Anonymous Pro Bold"/>
                <a:sym typeface="Anonymous Pro Bold"/>
              </a:rPr>
              <a:t>MULTIDESK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082106" y="7535217"/>
            <a:ext cx="2123787" cy="586938"/>
          </a:xfrm>
          <a:custGeom>
            <a:avLst/>
            <a:gdLst/>
            <a:ahLst/>
            <a:cxnLst/>
            <a:rect r="r" b="b" t="t" l="l"/>
            <a:pathLst>
              <a:path h="586938" w="2123787">
                <a:moveTo>
                  <a:pt x="0" y="0"/>
                </a:moveTo>
                <a:lnTo>
                  <a:pt x="2123788" y="0"/>
                </a:lnTo>
                <a:lnTo>
                  <a:pt x="2123788" y="586938"/>
                </a:lnTo>
                <a:lnTo>
                  <a:pt x="0" y="5869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440212" y="7828686"/>
            <a:ext cx="765682" cy="1303792"/>
          </a:xfrm>
          <a:custGeom>
            <a:avLst/>
            <a:gdLst/>
            <a:ahLst/>
            <a:cxnLst/>
            <a:rect r="r" b="b" t="t" l="l"/>
            <a:pathLst>
              <a:path h="1303792" w="765682">
                <a:moveTo>
                  <a:pt x="0" y="0"/>
                </a:moveTo>
                <a:lnTo>
                  <a:pt x="765682" y="0"/>
                </a:lnTo>
                <a:lnTo>
                  <a:pt x="765682" y="1303792"/>
                </a:lnTo>
                <a:lnTo>
                  <a:pt x="0" y="13037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352676" y="3606893"/>
            <a:ext cx="5582648" cy="52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8"/>
              </a:lnSpc>
            </a:pPr>
            <a:r>
              <a:rPr lang="en-US" sz="381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PRESENTANDO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70793" y="6502410"/>
            <a:ext cx="9746415" cy="650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6"/>
              </a:lnSpc>
            </a:pPr>
            <a:r>
              <a:rPr lang="en-US" sz="3783" spc="431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TRANSFERENCIA DE ARCHIVOS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1445159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inicio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550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082106" y="8214256"/>
            <a:ext cx="2123787" cy="586938"/>
          </a:xfrm>
          <a:custGeom>
            <a:avLst/>
            <a:gdLst/>
            <a:ahLst/>
            <a:cxnLst/>
            <a:rect r="r" b="b" t="t" l="l"/>
            <a:pathLst>
              <a:path h="586938" w="2123787">
                <a:moveTo>
                  <a:pt x="0" y="0"/>
                </a:moveTo>
                <a:lnTo>
                  <a:pt x="2123788" y="0"/>
                </a:lnTo>
                <a:lnTo>
                  <a:pt x="2123788" y="586938"/>
                </a:lnTo>
                <a:lnTo>
                  <a:pt x="0" y="5869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968432" y="8429961"/>
            <a:ext cx="765682" cy="1303792"/>
          </a:xfrm>
          <a:custGeom>
            <a:avLst/>
            <a:gdLst/>
            <a:ahLst/>
            <a:cxnLst/>
            <a:rect r="r" b="b" t="t" l="l"/>
            <a:pathLst>
              <a:path h="1303792" w="765682">
                <a:moveTo>
                  <a:pt x="0" y="0"/>
                </a:moveTo>
                <a:lnTo>
                  <a:pt x="765682" y="0"/>
                </a:lnTo>
                <a:lnTo>
                  <a:pt x="765682" y="1303792"/>
                </a:lnTo>
                <a:lnTo>
                  <a:pt x="0" y="13037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99122" y="6978693"/>
            <a:ext cx="3467508" cy="52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1"/>
              </a:lnSpc>
            </a:pPr>
            <a:r>
              <a:rPr lang="en-US" b="true" sz="3891" spc="-132">
                <a:gradFill>
                  <a:gsLst>
                    <a:gs pos="0">
                      <a:srgbClr val="FF2600">
                        <a:alpha val="100000"/>
                      </a:srgbClr>
                    </a:gs>
                    <a:gs pos="100000">
                      <a:srgbClr val="FF0000">
                        <a:alpha val="100000"/>
                      </a:srgbClr>
                    </a:gs>
                  </a:gsLst>
                  <a:lin ang="0"/>
                </a:gradFill>
                <a:latin typeface="Anonymous Pro Bold"/>
                <a:ea typeface="Anonymous Pro Bold"/>
                <a:cs typeface="Anonymous Pro Bold"/>
                <a:sym typeface="Anonymous Pro Bold"/>
              </a:rPr>
              <a:t>ANDRES OCHOA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52676" y="2933432"/>
            <a:ext cx="5582648" cy="52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8"/>
              </a:lnSpc>
            </a:pPr>
            <a:r>
              <a:rPr lang="en-US" sz="381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PRESENTANDO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4174" y="7535339"/>
            <a:ext cx="4377403" cy="28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sz="1699" spc="19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PROGRAMADOR FRONT-END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1445159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Integrantes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03484" y="6978693"/>
            <a:ext cx="3467508" cy="52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1"/>
              </a:lnSpc>
            </a:pPr>
            <a:r>
              <a:rPr lang="en-US" b="true" sz="3891" spc="-132">
                <a:gradFill>
                  <a:gsLst>
                    <a:gs pos="0">
                      <a:srgbClr val="FF2600">
                        <a:alpha val="100000"/>
                      </a:srgbClr>
                    </a:gs>
                    <a:gs pos="100000">
                      <a:srgbClr val="FF0000">
                        <a:alpha val="100000"/>
                      </a:srgbClr>
                    </a:gs>
                  </a:gsLst>
                  <a:lin ang="0"/>
                </a:gradFill>
                <a:latin typeface="Anonymous Pro Bold"/>
                <a:ea typeface="Anonymous Pro Bold"/>
                <a:cs typeface="Anonymous Pro Bold"/>
                <a:sym typeface="Anonymous Pro Bold"/>
              </a:rPr>
              <a:t>AUGUSTO KURTZ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948537" y="7535339"/>
            <a:ext cx="4377403" cy="28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sz="1699" spc="19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PROGRAMADOR PRINCIPÁL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544129" y="6978693"/>
            <a:ext cx="3467508" cy="52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1"/>
              </a:lnSpc>
            </a:pPr>
            <a:r>
              <a:rPr lang="en-US" b="true" sz="3891" spc="-132">
                <a:gradFill>
                  <a:gsLst>
                    <a:gs pos="0">
                      <a:srgbClr val="FF2600">
                        <a:alpha val="100000"/>
                      </a:srgbClr>
                    </a:gs>
                    <a:gs pos="100000">
                      <a:srgbClr val="FF0000">
                        <a:alpha val="100000"/>
                      </a:srgbClr>
                    </a:gs>
                  </a:gsLst>
                  <a:lin ang="0"/>
                </a:gradFill>
                <a:latin typeface="Anonymous Pro Bold"/>
                <a:ea typeface="Anonymous Pro Bold"/>
                <a:cs typeface="Anonymous Pro Bold"/>
                <a:sym typeface="Anonymous Pro Bold"/>
              </a:rPr>
              <a:t>ROCIO MONZON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089181" y="7535339"/>
            <a:ext cx="4377403" cy="28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sz="1699" spc="19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PROGRAMADOR BACK-END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684773" y="6978693"/>
            <a:ext cx="3467508" cy="52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1"/>
              </a:lnSpc>
            </a:pPr>
            <a:r>
              <a:rPr lang="en-US" b="true" sz="3891" spc="-132">
                <a:gradFill>
                  <a:gsLst>
                    <a:gs pos="0">
                      <a:srgbClr val="FF2600">
                        <a:alpha val="100000"/>
                      </a:srgbClr>
                    </a:gs>
                    <a:gs pos="100000">
                      <a:srgbClr val="FF0000">
                        <a:alpha val="100000"/>
                      </a:srgbClr>
                    </a:gs>
                  </a:gsLst>
                  <a:lin ang="0"/>
                </a:gradFill>
                <a:latin typeface="Anonymous Pro Bold"/>
                <a:ea typeface="Anonymous Pro Bold"/>
                <a:cs typeface="Anonymous Pro Bold"/>
                <a:sym typeface="Anonymous Pro Bold"/>
              </a:rPr>
              <a:t>THIAGO LOPEZ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229826" y="7535339"/>
            <a:ext cx="4377403" cy="28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sz="1699" spc="19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DOCUMENTADOR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986615" y="4238246"/>
            <a:ext cx="2863824" cy="2271998"/>
            <a:chOff x="0" y="0"/>
            <a:chExt cx="867374" cy="68812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67374" cy="688126"/>
            </a:xfrm>
            <a:custGeom>
              <a:avLst/>
              <a:gdLst/>
              <a:ahLst/>
              <a:cxnLst/>
              <a:rect r="r" b="b" t="t" l="l"/>
              <a:pathLst>
                <a:path h="688126" w="867374">
                  <a:moveTo>
                    <a:pt x="0" y="0"/>
                  </a:moveTo>
                  <a:lnTo>
                    <a:pt x="867374" y="0"/>
                  </a:lnTo>
                  <a:lnTo>
                    <a:pt x="867374" y="688126"/>
                  </a:lnTo>
                  <a:lnTo>
                    <a:pt x="0" y="688126"/>
                  </a:lnTo>
                  <a:close/>
                </a:path>
              </a:pathLst>
            </a:custGeom>
            <a:blipFill>
              <a:blip r:embed="rId14"/>
              <a:stretch>
                <a:fillRect l="0" t="-62882" r="0" b="-62882"/>
              </a:stretch>
            </a:blipFill>
            <a:ln w="38100" cap="sq">
              <a:gradFill>
                <a:gsLst>
                  <a:gs pos="0">
                    <a:srgbClr val="FF2600">
                      <a:alpha val="100000"/>
                    </a:srgbClr>
                  </a:gs>
                  <a:gs pos="100000">
                    <a:srgbClr val="FF0000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844704" y="4080896"/>
            <a:ext cx="2866358" cy="2429347"/>
            <a:chOff x="0" y="0"/>
            <a:chExt cx="934536" cy="79205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34536" cy="792055"/>
            </a:xfrm>
            <a:custGeom>
              <a:avLst/>
              <a:gdLst/>
              <a:ahLst/>
              <a:cxnLst/>
              <a:rect r="r" b="b" t="t" l="l"/>
              <a:pathLst>
                <a:path h="792055" w="934536">
                  <a:moveTo>
                    <a:pt x="0" y="0"/>
                  </a:moveTo>
                  <a:lnTo>
                    <a:pt x="934536" y="0"/>
                  </a:lnTo>
                  <a:lnTo>
                    <a:pt x="934536" y="792055"/>
                  </a:lnTo>
                  <a:lnTo>
                    <a:pt x="0" y="792055"/>
                  </a:lnTo>
                  <a:close/>
                </a:path>
              </a:pathLst>
            </a:custGeom>
            <a:blipFill>
              <a:blip r:embed="rId15"/>
              <a:stretch>
                <a:fillRect l="0" t="-3871" r="0" b="-46217"/>
              </a:stretch>
            </a:blipFill>
            <a:ln w="38100" cap="sq">
              <a:gradFill>
                <a:gsLst>
                  <a:gs pos="0">
                    <a:srgbClr val="FF2600">
                      <a:alpha val="100000"/>
                    </a:srgbClr>
                  </a:gs>
                  <a:gs pos="100000">
                    <a:srgbClr val="FF0000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5655742" y="4159571"/>
            <a:ext cx="2962992" cy="2350672"/>
            <a:chOff x="0" y="0"/>
            <a:chExt cx="867374" cy="68812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67374" cy="688126"/>
            </a:xfrm>
            <a:custGeom>
              <a:avLst/>
              <a:gdLst/>
              <a:ahLst/>
              <a:cxnLst/>
              <a:rect r="r" b="b" t="t" l="l"/>
              <a:pathLst>
                <a:path h="688126" w="867374">
                  <a:moveTo>
                    <a:pt x="0" y="0"/>
                  </a:moveTo>
                  <a:lnTo>
                    <a:pt x="867374" y="0"/>
                  </a:lnTo>
                  <a:lnTo>
                    <a:pt x="867374" y="688126"/>
                  </a:lnTo>
                  <a:lnTo>
                    <a:pt x="0" y="688126"/>
                  </a:lnTo>
                  <a:close/>
                </a:path>
              </a:pathLst>
            </a:custGeom>
            <a:blipFill>
              <a:blip r:embed="rId16"/>
              <a:stretch>
                <a:fillRect l="0" t="-62882" r="0" b="-62882"/>
              </a:stretch>
            </a:blipFill>
            <a:ln w="38100" cap="sq">
              <a:gradFill>
                <a:gsLst>
                  <a:gs pos="0">
                    <a:srgbClr val="FF2600">
                      <a:alpha val="100000"/>
                    </a:srgbClr>
                  </a:gs>
                  <a:gs pos="100000">
                    <a:srgbClr val="FF0000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563193" y="4238246"/>
            <a:ext cx="2863824" cy="2271998"/>
            <a:chOff x="0" y="0"/>
            <a:chExt cx="867374" cy="68812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67374" cy="688126"/>
            </a:xfrm>
            <a:custGeom>
              <a:avLst/>
              <a:gdLst/>
              <a:ahLst/>
              <a:cxnLst/>
              <a:rect r="r" b="b" t="t" l="l"/>
              <a:pathLst>
                <a:path h="688126" w="867374">
                  <a:moveTo>
                    <a:pt x="0" y="0"/>
                  </a:moveTo>
                  <a:lnTo>
                    <a:pt x="867374" y="0"/>
                  </a:lnTo>
                  <a:lnTo>
                    <a:pt x="867374" y="688126"/>
                  </a:lnTo>
                  <a:lnTo>
                    <a:pt x="0" y="688126"/>
                  </a:lnTo>
                  <a:close/>
                </a:path>
              </a:pathLst>
            </a:custGeom>
            <a:blipFill>
              <a:blip r:embed="rId17"/>
              <a:stretch>
                <a:fillRect l="0" t="-61357" r="0" b="-61357"/>
              </a:stretch>
            </a:blipFill>
            <a:ln w="38100" cap="sq">
              <a:gradFill>
                <a:gsLst>
                  <a:gs pos="0">
                    <a:srgbClr val="FF2600">
                      <a:alpha val="100000"/>
                    </a:srgbClr>
                  </a:gs>
                  <a:gs pos="100000">
                    <a:srgbClr val="FF0000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550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505775" y="2511163"/>
            <a:ext cx="8517631" cy="1500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60"/>
              </a:lnSpc>
            </a:pPr>
            <a:r>
              <a:rPr lang="en-US" b="true" sz="11260" spc="-382">
                <a:gradFill>
                  <a:gsLst>
                    <a:gs pos="0">
                      <a:srgbClr val="FF2600">
                        <a:alpha val="100000"/>
                      </a:srgbClr>
                    </a:gs>
                    <a:gs pos="100000">
                      <a:srgbClr val="FF0000">
                        <a:alpha val="100000"/>
                      </a:srgbClr>
                    </a:gs>
                  </a:gsLst>
                  <a:lin ang="0"/>
                </a:gradFill>
                <a:latin typeface="Anonymous Pro Bold"/>
                <a:ea typeface="Anonymous Pro Bold"/>
                <a:cs typeface="Anonymous Pro Bold"/>
                <a:sym typeface="Anonymous Pro Bold"/>
              </a:rPr>
              <a:t>MULTIDESK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-426877" y="3213592"/>
            <a:ext cx="5582648" cy="51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8"/>
              </a:lnSpc>
            </a:pPr>
            <a:r>
              <a:rPr lang="en-US" sz="3818" u="sng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INDICE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3141637" y="3334966"/>
            <a:ext cx="765682" cy="1303792"/>
          </a:xfrm>
          <a:custGeom>
            <a:avLst/>
            <a:gdLst/>
            <a:ahLst/>
            <a:cxnLst/>
            <a:rect r="r" b="b" t="t" l="l"/>
            <a:pathLst>
              <a:path h="1303792" w="765682">
                <a:moveTo>
                  <a:pt x="0" y="0"/>
                </a:moveTo>
                <a:lnTo>
                  <a:pt x="765682" y="0"/>
                </a:lnTo>
                <a:lnTo>
                  <a:pt x="765682" y="1303792"/>
                </a:lnTo>
                <a:lnTo>
                  <a:pt x="0" y="1303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Indice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Home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01289" y="3958287"/>
            <a:ext cx="5767591" cy="492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0"/>
              </a:lnSpc>
            </a:pP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4-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¿Qué es Multidesk?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5-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Objetivos del Proyecto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6-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Problemática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7-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Solución – ¡¡Multidesk!!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8-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¿Cómo funciona Multidesk?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9-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Tecnologías Utilizadas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10-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Arquitectura del Sistema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11-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Base de Datos (SQLite)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12-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Interfaz Gráfica Principal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13-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Panel del Host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14-Funciones Principales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48161" y="4312617"/>
            <a:ext cx="9939839" cy="457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14.1-Funciones Principales (Registro – Login)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14.2-Funciones Principales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Modo Temporal – Enviar/Descargar/Eliminar)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15-Casos de Uso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16-Seguridad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17-Ejemplo de Conexión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18-Solución a Problemas Comunes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19-Proceso Técnico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20-Planificación / Procesos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21-Diapositiva Final – Gracias por ver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310814" y="4102411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136192" y="6645998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5"/>
                </a:lnTo>
                <a:lnTo>
                  <a:pt x="0" y="1090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092743" y="3762832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4" y="0"/>
                </a:lnTo>
                <a:lnTo>
                  <a:pt x="1048894" y="1018382"/>
                </a:lnTo>
                <a:lnTo>
                  <a:pt x="0" y="1018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442638" y="4910249"/>
            <a:ext cx="5534722" cy="170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¿QUE ES MULTIDESK?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958755" y="3173890"/>
            <a:ext cx="7121270" cy="492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0"/>
              </a:lnSpc>
            </a:pP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El proyecto Multi-Desk fue desarrollado con el objetivo de crear una aplicación de transferencia de archivos entre computadoras conectadas a una misma red local.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Su función principal es permitir el intercambio de información sin Internet, sin pendrives ni cables, de forma rápida, práctica y segura.</a:t>
            </a: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Introduccion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889550" y="9193555"/>
            <a:ext cx="1271608" cy="652980"/>
            <a:chOff x="0" y="0"/>
            <a:chExt cx="334909" cy="1719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280209" y="4198412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218137" y="3925395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5" y="0"/>
                </a:lnTo>
                <a:lnTo>
                  <a:pt x="1048895" y="1018381"/>
                </a:lnTo>
                <a:lnTo>
                  <a:pt x="0" y="10183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412033" y="4531370"/>
            <a:ext cx="5534722" cy="250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OBJETIVOS DEL PROYECTO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306202" y="607407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49250" y="3169116"/>
            <a:ext cx="6591011" cy="492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Crear una herramienta segura y sencilla para transferir archivos.</a:t>
            </a:r>
          </a:p>
          <a:p>
            <a:pPr algn="just">
              <a:lnSpc>
                <a:spcPts val="3250"/>
              </a:lnSpc>
            </a:pP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Evitar el uso de pendrives y correos electrónicos.</a:t>
            </a:r>
          </a:p>
          <a:p>
            <a:pPr algn="just">
              <a:lnSpc>
                <a:spcPts val="3250"/>
              </a:lnSpc>
            </a:pP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Permitir el intercambio dentro de redes escolares u oficinas.</a:t>
            </a:r>
          </a:p>
          <a:p>
            <a:pPr algn="just">
              <a:lnSpc>
                <a:spcPts val="3250"/>
              </a:lnSpc>
            </a:pP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Aplicar conocimientos de redes, bases de datos y GUI.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Objetivos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073148" y="9193555"/>
            <a:ext cx="1271608" cy="652980"/>
            <a:chOff x="0" y="0"/>
            <a:chExt cx="334909" cy="1719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012908" y="2985124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69" y="0"/>
                </a:lnTo>
                <a:lnTo>
                  <a:pt x="5798369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5538489" y="9193555"/>
            <a:ext cx="1271608" cy="652980"/>
            <a:chOff x="0" y="0"/>
            <a:chExt cx="334909" cy="1719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2533344" y="3200357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808915" y="2860901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926032" y="4061237"/>
            <a:ext cx="2200907" cy="1264521"/>
          </a:xfrm>
          <a:custGeom>
            <a:avLst/>
            <a:gdLst/>
            <a:ahLst/>
            <a:cxnLst/>
            <a:rect r="r" b="b" t="t" l="l"/>
            <a:pathLst>
              <a:path h="1264521" w="2200907">
                <a:moveTo>
                  <a:pt x="0" y="0"/>
                </a:moveTo>
                <a:lnTo>
                  <a:pt x="2200907" y="0"/>
                </a:lnTo>
                <a:lnTo>
                  <a:pt x="2200907" y="1264522"/>
                </a:lnTo>
                <a:lnTo>
                  <a:pt x="0" y="126452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026485" y="5356615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7501492" y="9306337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748856" y="5870718"/>
            <a:ext cx="1541540" cy="1958076"/>
          </a:xfrm>
          <a:custGeom>
            <a:avLst/>
            <a:gdLst/>
            <a:ahLst/>
            <a:cxnLst/>
            <a:rect r="r" b="b" t="t" l="l"/>
            <a:pathLst>
              <a:path h="1958076" w="1541540">
                <a:moveTo>
                  <a:pt x="0" y="0"/>
                </a:moveTo>
                <a:lnTo>
                  <a:pt x="1541540" y="0"/>
                </a:lnTo>
                <a:lnTo>
                  <a:pt x="1541540" y="1958076"/>
                </a:lnTo>
                <a:lnTo>
                  <a:pt x="0" y="19580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4280423" y="3747291"/>
            <a:ext cx="5263340" cy="139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EL</a:t>
            </a:r>
          </a:p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PROBLEMA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44931" y="6314465"/>
            <a:ext cx="9988413" cy="246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¿Cuántas veces necesitaste pasar un archivo... y no tenías pendrive?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Compartir archivos grandes es lento y complicado.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Los servicios en la nube requieren internet.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 veces, ni siquiera hay Wi-Fi.</a:t>
            </a: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Problematicas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703496" y="3343236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49"/>
                </a:lnTo>
                <a:lnTo>
                  <a:pt x="0" y="3088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661786" y="9193555"/>
            <a:ext cx="1271608" cy="652980"/>
            <a:chOff x="0" y="0"/>
            <a:chExt cx="334909" cy="1719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900434" y="5099377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193736" y="3265263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281090" y="3343236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1" y="0"/>
                </a:lnTo>
                <a:lnTo>
                  <a:pt x="2986281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7401905" y="9306337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041237" y="4275304"/>
            <a:ext cx="1465987" cy="1122147"/>
          </a:xfrm>
          <a:custGeom>
            <a:avLst/>
            <a:gdLst/>
            <a:ahLst/>
            <a:cxnLst/>
            <a:rect r="r" b="b" t="t" l="l"/>
            <a:pathLst>
              <a:path h="1122147" w="1465987">
                <a:moveTo>
                  <a:pt x="0" y="0"/>
                </a:moveTo>
                <a:lnTo>
                  <a:pt x="1465987" y="0"/>
                </a:lnTo>
                <a:lnTo>
                  <a:pt x="1465987" y="1122146"/>
                </a:lnTo>
                <a:lnTo>
                  <a:pt x="0" y="11221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654862" y="5906745"/>
            <a:ext cx="1477427" cy="1556676"/>
          </a:xfrm>
          <a:custGeom>
            <a:avLst/>
            <a:gdLst/>
            <a:ahLst/>
            <a:cxnLst/>
            <a:rect r="r" b="b" t="t" l="l"/>
            <a:pathLst>
              <a:path h="1556676" w="1477427">
                <a:moveTo>
                  <a:pt x="0" y="0"/>
                </a:moveTo>
                <a:lnTo>
                  <a:pt x="1477427" y="0"/>
                </a:lnTo>
                <a:lnTo>
                  <a:pt x="1477427" y="1556677"/>
                </a:lnTo>
                <a:lnTo>
                  <a:pt x="0" y="155667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022756" y="4649687"/>
            <a:ext cx="5263340" cy="7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¡¡MULTIDESK!!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507224" y="6812610"/>
            <a:ext cx="8572801" cy="165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Conectá varias computadoras y compartí archivos en tu red local.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Sin internet. Sin cables. Sin límites.</a:t>
            </a: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Solucion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508196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073673" y="3235536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3"/>
                </a:lnTo>
                <a:lnTo>
                  <a:pt x="0" y="15827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3256286" y="3786872"/>
            <a:ext cx="6949975" cy="6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¿COMO FUNCIONA?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176542" y="4170079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544931" y="2897481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826186" y="4030234"/>
            <a:ext cx="2640953" cy="4114800"/>
          </a:xfrm>
          <a:custGeom>
            <a:avLst/>
            <a:gdLst/>
            <a:ahLst/>
            <a:cxnLst/>
            <a:rect r="r" b="b" t="t" l="l"/>
            <a:pathLst>
              <a:path h="4114800" w="2640953">
                <a:moveTo>
                  <a:pt x="0" y="0"/>
                </a:moveTo>
                <a:lnTo>
                  <a:pt x="2640953" y="0"/>
                </a:lnTo>
                <a:lnTo>
                  <a:pt x="26409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306789" y="5347297"/>
            <a:ext cx="11152682" cy="328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Multidesk funciona mediante el hosteo de servidores.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Un usuario al iniciar la aplicacion puede elegir entre hostear un servidor o unirse a uno ya hecho, lo unico que necesitaremos es la direccion IP de la computadora que estemos utilizando. Luego de decidir para que la usaremos, solo hay que seleccionar y subir los archivos (fotos, videos,etc...)que queremos al servidor, y listo.</a:t>
            </a: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Multidesk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717813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630354" y="3912215"/>
            <a:ext cx="5027291" cy="2678175"/>
          </a:xfrm>
          <a:custGeom>
            <a:avLst/>
            <a:gdLst/>
            <a:ahLst/>
            <a:cxnLst/>
            <a:rect r="r" b="b" t="t" l="l"/>
            <a:pathLst>
              <a:path h="2678175" w="5027291">
                <a:moveTo>
                  <a:pt x="0" y="0"/>
                </a:moveTo>
                <a:lnTo>
                  <a:pt x="5027292" y="0"/>
                </a:lnTo>
                <a:lnTo>
                  <a:pt x="5027292" y="2678175"/>
                </a:lnTo>
                <a:lnTo>
                  <a:pt x="0" y="2678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897829" y="4900138"/>
            <a:ext cx="4492341" cy="6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TECNOLOGIAS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136192" y="3627644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764092" y="6847565"/>
            <a:ext cx="4759816" cy="891384"/>
          </a:xfrm>
          <a:custGeom>
            <a:avLst/>
            <a:gdLst/>
            <a:ahLst/>
            <a:cxnLst/>
            <a:rect r="r" b="b" t="t" l="l"/>
            <a:pathLst>
              <a:path h="891384" w="4759816">
                <a:moveTo>
                  <a:pt x="0" y="0"/>
                </a:moveTo>
                <a:lnTo>
                  <a:pt x="4759816" y="0"/>
                </a:lnTo>
                <a:lnTo>
                  <a:pt x="4759816" y="891384"/>
                </a:lnTo>
                <a:lnTo>
                  <a:pt x="0" y="8913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647903" y="4094000"/>
            <a:ext cx="4998049" cy="328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0"/>
              </a:lnSpc>
            </a:pPr>
            <a:r>
              <a:rPr lang="en-US" sz="26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Lenguaje principal: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Python 3.10+</a:t>
            </a:r>
          </a:p>
          <a:p>
            <a:pPr algn="just">
              <a:lnSpc>
                <a:spcPts val="3250"/>
              </a:lnSpc>
            </a:pPr>
            <a:r>
              <a:rPr lang="en-US" sz="26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Interfaz gráfica: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Tkinter</a:t>
            </a:r>
          </a:p>
          <a:p>
            <a:pPr algn="just">
              <a:lnSpc>
                <a:spcPts val="3250"/>
              </a:lnSpc>
            </a:pPr>
            <a:r>
              <a:rPr lang="en-US" sz="26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Servidor local: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http.server/socketserver</a:t>
            </a:r>
          </a:p>
          <a:p>
            <a:pPr algn="just">
              <a:lnSpc>
                <a:spcPts val="3250"/>
              </a:lnSpc>
            </a:pP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6046267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Herramientas Utilizadas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203273" y="4005879"/>
            <a:ext cx="4149566" cy="410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0"/>
              </a:lnSpc>
            </a:pPr>
            <a:r>
              <a:rPr lang="en-US" sz="26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Base de datos de usuarios: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SQLite3</a:t>
            </a:r>
          </a:p>
          <a:p>
            <a:pPr algn="just">
              <a:lnSpc>
                <a:spcPts val="3250"/>
              </a:lnSpc>
            </a:pPr>
            <a:r>
              <a:rPr lang="en-US" sz="26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Comunicación cliente-servidor: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Requests / BS4</a:t>
            </a:r>
          </a:p>
          <a:p>
            <a:pPr algn="just">
              <a:lnSpc>
                <a:spcPts val="3250"/>
              </a:lnSpc>
            </a:pPr>
            <a:r>
              <a:rPr lang="en-US" sz="26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Registro de subidas: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JSON</a:t>
            </a:r>
          </a:p>
          <a:p>
            <a:pPr algn="just">
              <a:lnSpc>
                <a:spcPts val="3250"/>
              </a:lnSpc>
            </a:pP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7401905" y="9306337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102184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259036" y="6923670"/>
            <a:ext cx="8046484" cy="1740967"/>
          </a:xfrm>
          <a:custGeom>
            <a:avLst/>
            <a:gdLst/>
            <a:ahLst/>
            <a:cxnLst/>
            <a:rect r="r" b="b" t="t" l="l"/>
            <a:pathLst>
              <a:path h="1740967" w="8046484">
                <a:moveTo>
                  <a:pt x="0" y="0"/>
                </a:moveTo>
                <a:lnTo>
                  <a:pt x="8046484" y="0"/>
                </a:lnTo>
                <a:lnTo>
                  <a:pt x="8046484" y="1740967"/>
                </a:lnTo>
                <a:lnTo>
                  <a:pt x="0" y="17409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5407104" y="7230125"/>
            <a:ext cx="7750347" cy="133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8"/>
              </a:lnSpc>
            </a:pPr>
            <a:r>
              <a:rPr lang="en-US" b="true" sz="5916" spc="-20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ARQUITECTURA DEL SISTEMA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733329" y="6705338"/>
            <a:ext cx="1121439" cy="1088815"/>
          </a:xfrm>
          <a:custGeom>
            <a:avLst/>
            <a:gdLst/>
            <a:ahLst/>
            <a:cxnLst/>
            <a:rect r="r" b="b" t="t" l="l"/>
            <a:pathLst>
              <a:path h="1088815" w="1121439">
                <a:moveTo>
                  <a:pt x="0" y="0"/>
                </a:moveTo>
                <a:lnTo>
                  <a:pt x="1121438" y="0"/>
                </a:lnTo>
                <a:lnTo>
                  <a:pt x="1121438" y="1088816"/>
                </a:lnTo>
                <a:lnTo>
                  <a:pt x="0" y="10888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362685" y="811927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176043" y="2820336"/>
            <a:ext cx="3719267" cy="804714"/>
          </a:xfrm>
          <a:custGeom>
            <a:avLst/>
            <a:gdLst/>
            <a:ahLst/>
            <a:cxnLst/>
            <a:rect r="r" b="b" t="t" l="l"/>
            <a:pathLst>
              <a:path h="804714" w="3719267">
                <a:moveTo>
                  <a:pt x="0" y="0"/>
                </a:moveTo>
                <a:lnTo>
                  <a:pt x="3719267" y="0"/>
                </a:lnTo>
                <a:lnTo>
                  <a:pt x="3719267" y="804714"/>
                </a:lnTo>
                <a:lnTo>
                  <a:pt x="0" y="804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7284366" y="2820336"/>
            <a:ext cx="3719267" cy="804714"/>
          </a:xfrm>
          <a:custGeom>
            <a:avLst/>
            <a:gdLst/>
            <a:ahLst/>
            <a:cxnLst/>
            <a:rect r="r" b="b" t="t" l="l"/>
            <a:pathLst>
              <a:path h="804714" w="3719267">
                <a:moveTo>
                  <a:pt x="0" y="0"/>
                </a:moveTo>
                <a:lnTo>
                  <a:pt x="3719268" y="0"/>
                </a:lnTo>
                <a:lnTo>
                  <a:pt x="3719268" y="804714"/>
                </a:lnTo>
                <a:lnTo>
                  <a:pt x="0" y="804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2392690" y="2820336"/>
            <a:ext cx="3719267" cy="804714"/>
          </a:xfrm>
          <a:custGeom>
            <a:avLst/>
            <a:gdLst/>
            <a:ahLst/>
            <a:cxnLst/>
            <a:rect r="r" b="b" t="t" l="l"/>
            <a:pathLst>
              <a:path h="804714" w="3719267">
                <a:moveTo>
                  <a:pt x="0" y="0"/>
                </a:moveTo>
                <a:lnTo>
                  <a:pt x="3719267" y="0"/>
                </a:lnTo>
                <a:lnTo>
                  <a:pt x="3719267" y="804714"/>
                </a:lnTo>
                <a:lnTo>
                  <a:pt x="0" y="804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2" id="32"/>
          <p:cNvSpPr txBox="true"/>
          <p:nvPr/>
        </p:nvSpPr>
        <p:spPr>
          <a:xfrm rot="0">
            <a:off x="4803929" y="3826248"/>
            <a:ext cx="8501590" cy="287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Cliente ↔ Servidor HTTP local (puerto 8000)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Cada host mantiene un 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directorio MultiDesk para los archivos compartidos.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El servidor autentica, registra subidas y sincroniza la lista de archivos.</a:t>
            </a: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57234" y="3094300"/>
            <a:ext cx="3556884" cy="33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7"/>
              </a:lnSpc>
            </a:pPr>
            <a:r>
              <a:rPr lang="en-US" b="true" sz="2715" spc="-9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CLIENTE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65558" y="3094300"/>
            <a:ext cx="3556884" cy="33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7"/>
              </a:lnSpc>
            </a:pPr>
            <a:r>
              <a:rPr lang="en-US" b="true" sz="2715" spc="-9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HOST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470484" y="3094300"/>
            <a:ext cx="3556884" cy="33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7"/>
              </a:lnSpc>
            </a:pPr>
            <a:r>
              <a:rPr lang="en-US" b="true" sz="2715" spc="-9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BASE DE DATOS LOCAL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Arquitectura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6098298" y="2930674"/>
            <a:ext cx="983080" cy="584039"/>
          </a:xfrm>
          <a:custGeom>
            <a:avLst/>
            <a:gdLst/>
            <a:ahLst/>
            <a:cxnLst/>
            <a:rect r="r" b="b" t="t" l="l"/>
            <a:pathLst>
              <a:path h="584039" w="983080">
                <a:moveTo>
                  <a:pt x="0" y="0"/>
                </a:moveTo>
                <a:lnTo>
                  <a:pt x="983080" y="0"/>
                </a:lnTo>
                <a:lnTo>
                  <a:pt x="983080" y="584039"/>
                </a:lnTo>
                <a:lnTo>
                  <a:pt x="0" y="5840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-16564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11166106" y="2930674"/>
            <a:ext cx="983080" cy="584039"/>
          </a:xfrm>
          <a:custGeom>
            <a:avLst/>
            <a:gdLst/>
            <a:ahLst/>
            <a:cxnLst/>
            <a:rect r="r" b="b" t="t" l="l"/>
            <a:pathLst>
              <a:path h="584039" w="983080">
                <a:moveTo>
                  <a:pt x="0" y="0"/>
                </a:moveTo>
                <a:lnTo>
                  <a:pt x="983080" y="0"/>
                </a:lnTo>
                <a:lnTo>
                  <a:pt x="983080" y="584039"/>
                </a:lnTo>
                <a:lnTo>
                  <a:pt x="0" y="5840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-16564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32975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2101799" y="3391409"/>
            <a:ext cx="5027291" cy="2678175"/>
          </a:xfrm>
          <a:custGeom>
            <a:avLst/>
            <a:gdLst/>
            <a:ahLst/>
            <a:cxnLst/>
            <a:rect r="r" b="b" t="t" l="l"/>
            <a:pathLst>
              <a:path h="2678175" w="5027291">
                <a:moveTo>
                  <a:pt x="0" y="0"/>
                </a:moveTo>
                <a:lnTo>
                  <a:pt x="5027292" y="0"/>
                </a:lnTo>
                <a:lnTo>
                  <a:pt x="5027292" y="2678176"/>
                </a:lnTo>
                <a:lnTo>
                  <a:pt x="0" y="26781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607638" y="3106839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19" y="0"/>
                </a:lnTo>
                <a:lnTo>
                  <a:pt x="1019519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032562" y="85222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544931" y="3601769"/>
            <a:ext cx="8415024" cy="2596921"/>
          </a:xfrm>
          <a:custGeom>
            <a:avLst/>
            <a:gdLst/>
            <a:ahLst/>
            <a:cxnLst/>
            <a:rect r="r" b="b" t="t" l="l"/>
            <a:pathLst>
              <a:path h="2596921" w="8415024">
                <a:moveTo>
                  <a:pt x="0" y="0"/>
                </a:moveTo>
                <a:lnTo>
                  <a:pt x="8415025" y="0"/>
                </a:lnTo>
                <a:lnTo>
                  <a:pt x="8415025" y="2596922"/>
                </a:lnTo>
                <a:lnTo>
                  <a:pt x="0" y="25969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2006093" y="2557416"/>
            <a:ext cx="1725911" cy="1725911"/>
          </a:xfrm>
          <a:custGeom>
            <a:avLst/>
            <a:gdLst/>
            <a:ahLst/>
            <a:cxnLst/>
            <a:rect r="r" b="b" t="t" l="l"/>
            <a:pathLst>
              <a:path h="1725911" w="1725911">
                <a:moveTo>
                  <a:pt x="0" y="0"/>
                </a:moveTo>
                <a:lnTo>
                  <a:pt x="1725912" y="0"/>
                </a:lnTo>
                <a:lnTo>
                  <a:pt x="1725912" y="1725912"/>
                </a:lnTo>
                <a:lnTo>
                  <a:pt x="0" y="172591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369275" y="4503163"/>
            <a:ext cx="4492341" cy="6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SQLITE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515300" y="6651866"/>
            <a:ext cx="10019116" cy="205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multidesk.db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Tabla: Usuarios (id, username, password_hash)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Contraseñas en SHA-256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Evita usuarios duplicados</a:t>
            </a: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Base de Datos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3734433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702982" y="3149506"/>
            <a:ext cx="6752249" cy="1866076"/>
          </a:xfrm>
          <a:custGeom>
            <a:avLst/>
            <a:gdLst/>
            <a:ahLst/>
            <a:cxnLst/>
            <a:rect r="r" b="b" t="t" l="l"/>
            <a:pathLst>
              <a:path h="1866076" w="6752249">
                <a:moveTo>
                  <a:pt x="0" y="0"/>
                </a:moveTo>
                <a:lnTo>
                  <a:pt x="6752249" y="0"/>
                </a:lnTo>
                <a:lnTo>
                  <a:pt x="6752249" y="1866076"/>
                </a:lnTo>
                <a:lnTo>
                  <a:pt x="0" y="18660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3201238" y="3606369"/>
            <a:ext cx="5755736" cy="110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b="true" sz="4892" spc="-16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INTERFAZ GRAFICA PRINCIPAL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2340373" y="2989423"/>
            <a:ext cx="1224507" cy="1188885"/>
          </a:xfrm>
          <a:custGeom>
            <a:avLst/>
            <a:gdLst/>
            <a:ahLst/>
            <a:cxnLst/>
            <a:rect r="r" b="b" t="t" l="l"/>
            <a:pathLst>
              <a:path h="1188885" w="1224507">
                <a:moveTo>
                  <a:pt x="0" y="0"/>
                </a:moveTo>
                <a:lnTo>
                  <a:pt x="1224507" y="0"/>
                </a:lnTo>
                <a:lnTo>
                  <a:pt x="1224507" y="1188885"/>
                </a:lnTo>
                <a:lnTo>
                  <a:pt x="0" y="11888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636698" y="3632945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887712" y="2679841"/>
            <a:ext cx="5125055" cy="5231457"/>
          </a:xfrm>
          <a:custGeom>
            <a:avLst/>
            <a:gdLst/>
            <a:ahLst/>
            <a:cxnLst/>
            <a:rect r="r" b="b" t="t" l="l"/>
            <a:pathLst>
              <a:path h="5231457" w="5125055">
                <a:moveTo>
                  <a:pt x="0" y="0"/>
                </a:moveTo>
                <a:lnTo>
                  <a:pt x="5125055" y="0"/>
                </a:lnTo>
                <a:lnTo>
                  <a:pt x="5125055" y="5231458"/>
                </a:lnTo>
                <a:lnTo>
                  <a:pt x="0" y="523145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Interfaz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801289" y="5415632"/>
            <a:ext cx="9811662" cy="364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Pantalla inicial con botones: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</a:t>
            </a: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Hostear sala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”→permite hostear una sala propia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</a:t>
            </a: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Conectarse a sala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”→para conectarse a la sala de un host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</a:t>
            </a: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Registrar usuario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”→permite hacer una cuanta para Multidesk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</a:t>
            </a: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Mostrar IP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”→sirve para mostrar la direccion IP de la computadora del cliente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Panel de depuración (DEBUG)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informa IP, conexión y errores.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65719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192688" y="5967594"/>
            <a:ext cx="6752249" cy="1866076"/>
          </a:xfrm>
          <a:custGeom>
            <a:avLst/>
            <a:gdLst/>
            <a:ahLst/>
            <a:cxnLst/>
            <a:rect r="r" b="b" t="t" l="l"/>
            <a:pathLst>
              <a:path h="1866076" w="6752249">
                <a:moveTo>
                  <a:pt x="0" y="0"/>
                </a:moveTo>
                <a:lnTo>
                  <a:pt x="6752249" y="0"/>
                </a:lnTo>
                <a:lnTo>
                  <a:pt x="6752249" y="1866076"/>
                </a:lnTo>
                <a:lnTo>
                  <a:pt x="0" y="18660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1192688" y="6698648"/>
            <a:ext cx="6773350" cy="584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b="true" sz="4892" spc="-16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HOST PANEL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7029822" y="7020415"/>
            <a:ext cx="1224507" cy="1188885"/>
          </a:xfrm>
          <a:custGeom>
            <a:avLst/>
            <a:gdLst/>
            <a:ahLst/>
            <a:cxnLst/>
            <a:rect r="r" b="b" t="t" l="l"/>
            <a:pathLst>
              <a:path h="1188885" w="1224507">
                <a:moveTo>
                  <a:pt x="0" y="0"/>
                </a:moveTo>
                <a:lnTo>
                  <a:pt x="1224507" y="0"/>
                </a:lnTo>
                <a:lnTo>
                  <a:pt x="1224507" y="1188885"/>
                </a:lnTo>
                <a:lnTo>
                  <a:pt x="0" y="11888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608523" y="9306337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981591" y="2430920"/>
            <a:ext cx="5730962" cy="4599020"/>
          </a:xfrm>
          <a:custGeom>
            <a:avLst/>
            <a:gdLst/>
            <a:ahLst/>
            <a:cxnLst/>
            <a:rect r="r" b="b" t="t" l="l"/>
            <a:pathLst>
              <a:path h="4599020" w="5730962">
                <a:moveTo>
                  <a:pt x="0" y="0"/>
                </a:moveTo>
                <a:lnTo>
                  <a:pt x="5730962" y="0"/>
                </a:lnTo>
                <a:lnTo>
                  <a:pt x="5730962" y="4599020"/>
                </a:lnTo>
                <a:lnTo>
                  <a:pt x="0" y="45990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-34307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636971" y="4934633"/>
            <a:ext cx="5486960" cy="4134446"/>
          </a:xfrm>
          <a:custGeom>
            <a:avLst/>
            <a:gdLst/>
            <a:ahLst/>
            <a:cxnLst/>
            <a:rect r="r" b="b" t="t" l="l"/>
            <a:pathLst>
              <a:path h="4134446" w="5486960">
                <a:moveTo>
                  <a:pt x="0" y="0"/>
                </a:moveTo>
                <a:lnTo>
                  <a:pt x="5486961" y="0"/>
                </a:lnTo>
                <a:lnTo>
                  <a:pt x="5486961" y="4134446"/>
                </a:lnTo>
                <a:lnTo>
                  <a:pt x="0" y="413444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-25951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566800" y="2438727"/>
            <a:ext cx="3452391" cy="3452391"/>
          </a:xfrm>
          <a:custGeom>
            <a:avLst/>
            <a:gdLst/>
            <a:ahLst/>
            <a:cxnLst/>
            <a:rect r="r" b="b" t="t" l="l"/>
            <a:pathLst>
              <a:path h="3452391" w="3452391">
                <a:moveTo>
                  <a:pt x="0" y="0"/>
                </a:moveTo>
                <a:lnTo>
                  <a:pt x="3452391" y="0"/>
                </a:lnTo>
                <a:lnTo>
                  <a:pt x="3452391" y="3452391"/>
                </a:lnTo>
                <a:lnTo>
                  <a:pt x="0" y="345239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480979" y="3012028"/>
            <a:ext cx="6773350" cy="287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Ver usuarios conecta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dos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Eliminar archivos (individual o todos)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Cerrar la sala</a:t>
            </a: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Muestra cómo el Host controla todo desde una sola ventana.</a:t>
            </a: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Panel del Host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32975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841544" y="3788384"/>
            <a:ext cx="5027291" cy="2678175"/>
          </a:xfrm>
          <a:custGeom>
            <a:avLst/>
            <a:gdLst/>
            <a:ahLst/>
            <a:cxnLst/>
            <a:rect r="r" b="b" t="t" l="l"/>
            <a:pathLst>
              <a:path h="2678175" w="5027291">
                <a:moveTo>
                  <a:pt x="0" y="0"/>
                </a:moveTo>
                <a:lnTo>
                  <a:pt x="5027291" y="0"/>
                </a:lnTo>
                <a:lnTo>
                  <a:pt x="5027291" y="2678175"/>
                </a:lnTo>
                <a:lnTo>
                  <a:pt x="0" y="2678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144000" y="4655599"/>
            <a:ext cx="4492341" cy="122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FUNCIONES PRINCIPALES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347382" y="3503813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419165" y="3503813"/>
            <a:ext cx="2962746" cy="2962746"/>
          </a:xfrm>
          <a:custGeom>
            <a:avLst/>
            <a:gdLst/>
            <a:ahLst/>
            <a:cxnLst/>
            <a:rect r="r" b="b" t="t" l="l"/>
            <a:pathLst>
              <a:path h="2962746" w="2962746">
                <a:moveTo>
                  <a:pt x="0" y="0"/>
                </a:moveTo>
                <a:lnTo>
                  <a:pt x="2962745" y="0"/>
                </a:lnTo>
                <a:lnTo>
                  <a:pt x="2962745" y="2962746"/>
                </a:lnTo>
                <a:lnTo>
                  <a:pt x="0" y="296274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419165" y="6724040"/>
            <a:ext cx="9449670" cy="246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Registro / Login de usuar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io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Hostear sala (crea servidor)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Conectarse a sala (cliente)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Enviar / Descargar / Eliminar archivos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Modo temporal: elimina los archivos al salir</a:t>
            </a: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Funciones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7382855" y="930117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3734433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887963" y="2517474"/>
            <a:ext cx="6752249" cy="1866076"/>
          </a:xfrm>
          <a:custGeom>
            <a:avLst/>
            <a:gdLst/>
            <a:ahLst/>
            <a:cxnLst/>
            <a:rect r="r" b="b" t="t" l="l"/>
            <a:pathLst>
              <a:path h="1866076" w="6752249">
                <a:moveTo>
                  <a:pt x="0" y="0"/>
                </a:moveTo>
                <a:lnTo>
                  <a:pt x="6752249" y="0"/>
                </a:lnTo>
                <a:lnTo>
                  <a:pt x="6752249" y="1866076"/>
                </a:lnTo>
                <a:lnTo>
                  <a:pt x="0" y="18660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1447812" y="2611241"/>
            <a:ext cx="2942700" cy="813255"/>
          </a:xfrm>
          <a:custGeom>
            <a:avLst/>
            <a:gdLst/>
            <a:ahLst/>
            <a:cxnLst/>
            <a:rect r="r" b="b" t="t" l="l"/>
            <a:pathLst>
              <a:path h="813255" w="2942700">
                <a:moveTo>
                  <a:pt x="0" y="0"/>
                </a:moveTo>
                <a:lnTo>
                  <a:pt x="2942700" y="0"/>
                </a:lnTo>
                <a:lnTo>
                  <a:pt x="2942700" y="813255"/>
                </a:lnTo>
                <a:lnTo>
                  <a:pt x="0" y="8132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457337" y="3570295"/>
            <a:ext cx="2942700" cy="813255"/>
          </a:xfrm>
          <a:custGeom>
            <a:avLst/>
            <a:gdLst/>
            <a:ahLst/>
            <a:cxnLst/>
            <a:rect r="r" b="b" t="t" l="l"/>
            <a:pathLst>
              <a:path h="813255" w="2942700">
                <a:moveTo>
                  <a:pt x="0" y="0"/>
                </a:moveTo>
                <a:lnTo>
                  <a:pt x="2942700" y="0"/>
                </a:lnTo>
                <a:lnTo>
                  <a:pt x="2942700" y="813255"/>
                </a:lnTo>
                <a:lnTo>
                  <a:pt x="0" y="8132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386219" y="2974337"/>
            <a:ext cx="5755736" cy="110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b="true" sz="4892" spc="-16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FUNCIONES</a:t>
            </a:r>
          </a:p>
          <a:p>
            <a:pPr algn="ctr">
              <a:lnSpc>
                <a:spcPts val="4158"/>
              </a:lnSpc>
            </a:pPr>
            <a:r>
              <a:rPr lang="en-US" b="true" sz="4892" spc="-16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PRINCIPALES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3525353" y="2357391"/>
            <a:ext cx="1224507" cy="1188885"/>
          </a:xfrm>
          <a:custGeom>
            <a:avLst/>
            <a:gdLst/>
            <a:ahLst/>
            <a:cxnLst/>
            <a:rect r="r" b="b" t="t" l="l"/>
            <a:pathLst>
              <a:path h="1188885" w="1224507">
                <a:moveTo>
                  <a:pt x="0" y="0"/>
                </a:moveTo>
                <a:lnTo>
                  <a:pt x="1224507" y="0"/>
                </a:lnTo>
                <a:lnTo>
                  <a:pt x="1224507" y="1188885"/>
                </a:lnTo>
                <a:lnTo>
                  <a:pt x="0" y="118888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168879" y="2457066"/>
            <a:ext cx="3500567" cy="967429"/>
          </a:xfrm>
          <a:custGeom>
            <a:avLst/>
            <a:gdLst/>
            <a:ahLst/>
            <a:cxnLst/>
            <a:rect r="r" b="b" t="t" l="l"/>
            <a:pathLst>
              <a:path h="967429" w="3500567">
                <a:moveTo>
                  <a:pt x="0" y="0"/>
                </a:moveTo>
                <a:lnTo>
                  <a:pt x="3500567" y="0"/>
                </a:lnTo>
                <a:lnTo>
                  <a:pt x="3500567" y="967430"/>
                </a:lnTo>
                <a:lnTo>
                  <a:pt x="0" y="9674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1178404" y="3551245"/>
            <a:ext cx="3500567" cy="967429"/>
          </a:xfrm>
          <a:custGeom>
            <a:avLst/>
            <a:gdLst/>
            <a:ahLst/>
            <a:cxnLst/>
            <a:rect r="r" b="b" t="t" l="l"/>
            <a:pathLst>
              <a:path h="967429" w="3500567">
                <a:moveTo>
                  <a:pt x="0" y="0"/>
                </a:moveTo>
                <a:lnTo>
                  <a:pt x="3500567" y="0"/>
                </a:lnTo>
                <a:lnTo>
                  <a:pt x="3500567" y="967429"/>
                </a:lnTo>
                <a:lnTo>
                  <a:pt x="0" y="9674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10141955" y="3343608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673457" y="5067766"/>
            <a:ext cx="6133754" cy="3668679"/>
          </a:xfrm>
          <a:custGeom>
            <a:avLst/>
            <a:gdLst/>
            <a:ahLst/>
            <a:cxnLst/>
            <a:rect r="r" b="b" t="t" l="l"/>
            <a:pathLst>
              <a:path h="3668679" w="6133754">
                <a:moveTo>
                  <a:pt x="0" y="0"/>
                </a:moveTo>
                <a:lnTo>
                  <a:pt x="6133754" y="0"/>
                </a:lnTo>
                <a:lnTo>
                  <a:pt x="6133754" y="3668680"/>
                </a:lnTo>
                <a:lnTo>
                  <a:pt x="0" y="366868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-93811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2544931" y="5107450"/>
            <a:ext cx="6133754" cy="3576697"/>
          </a:xfrm>
          <a:custGeom>
            <a:avLst/>
            <a:gdLst/>
            <a:ahLst/>
            <a:cxnLst/>
            <a:rect r="r" b="b" t="t" l="l"/>
            <a:pathLst>
              <a:path h="3576697" w="6133754">
                <a:moveTo>
                  <a:pt x="0" y="0"/>
                </a:moveTo>
                <a:lnTo>
                  <a:pt x="6133755" y="0"/>
                </a:lnTo>
                <a:lnTo>
                  <a:pt x="6133755" y="3576696"/>
                </a:lnTo>
                <a:lnTo>
                  <a:pt x="0" y="357669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11076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5" id="35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Funciones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57337" y="2864203"/>
            <a:ext cx="2983945" cy="30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5"/>
              </a:lnSpc>
            </a:pPr>
            <a:r>
              <a:rPr lang="en-US" b="true" sz="2536" spc="-8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REGISTRO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436715" y="3920039"/>
            <a:ext cx="2983945" cy="30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5"/>
              </a:lnSpc>
            </a:pPr>
            <a:r>
              <a:rPr lang="en-US" b="true" sz="2536" spc="-8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LOGIN</a:t>
            </a:r>
          </a:p>
        </p:txBody>
      </p:sp>
      <p:sp>
        <p:nvSpPr>
          <p:cNvPr name="AutoShape 41" id="41"/>
          <p:cNvSpPr/>
          <p:nvPr/>
        </p:nvSpPr>
        <p:spPr>
          <a:xfrm flipH="true">
            <a:off x="12802109" y="3017868"/>
            <a:ext cx="2096374" cy="19214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V="true">
            <a:off x="5515319" y="4115339"/>
            <a:ext cx="5727117" cy="10852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3734433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513483" y="4994924"/>
            <a:ext cx="2942700" cy="813255"/>
          </a:xfrm>
          <a:custGeom>
            <a:avLst/>
            <a:gdLst/>
            <a:ahLst/>
            <a:cxnLst/>
            <a:rect r="r" b="b" t="t" l="l"/>
            <a:pathLst>
              <a:path h="813255" w="2942700">
                <a:moveTo>
                  <a:pt x="0" y="0"/>
                </a:moveTo>
                <a:lnTo>
                  <a:pt x="2942700" y="0"/>
                </a:lnTo>
                <a:lnTo>
                  <a:pt x="2942700" y="813255"/>
                </a:lnTo>
                <a:lnTo>
                  <a:pt x="0" y="8132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518320" y="4602625"/>
            <a:ext cx="2942700" cy="813255"/>
          </a:xfrm>
          <a:custGeom>
            <a:avLst/>
            <a:gdLst/>
            <a:ahLst/>
            <a:cxnLst/>
            <a:rect r="r" b="b" t="t" l="l"/>
            <a:pathLst>
              <a:path h="813255" w="2942700">
                <a:moveTo>
                  <a:pt x="0" y="0"/>
                </a:moveTo>
                <a:lnTo>
                  <a:pt x="2942699" y="0"/>
                </a:lnTo>
                <a:lnTo>
                  <a:pt x="2942699" y="813255"/>
                </a:lnTo>
                <a:lnTo>
                  <a:pt x="0" y="8132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5586571" y="2557416"/>
            <a:ext cx="7114858" cy="2026159"/>
            <a:chOff x="0" y="0"/>
            <a:chExt cx="9486477" cy="27015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83479" y="213443"/>
              <a:ext cx="9002998" cy="2488101"/>
            </a:xfrm>
            <a:custGeom>
              <a:avLst/>
              <a:gdLst/>
              <a:ahLst/>
              <a:cxnLst/>
              <a:rect r="r" b="b" t="t" l="l"/>
              <a:pathLst>
                <a:path h="2488101" w="9002998">
                  <a:moveTo>
                    <a:pt x="0" y="0"/>
                  </a:moveTo>
                  <a:lnTo>
                    <a:pt x="9002998" y="0"/>
                  </a:lnTo>
                  <a:lnTo>
                    <a:pt x="9002998" y="2488102"/>
                  </a:lnTo>
                  <a:lnTo>
                    <a:pt x="0" y="2488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 rot="0">
              <a:off x="1147821" y="771795"/>
              <a:ext cx="7674315" cy="1523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8"/>
                </a:lnSpc>
              </a:pPr>
              <a:r>
                <a:rPr lang="en-US" b="true" sz="4892" spc="-166">
                  <a:solidFill>
                    <a:srgbClr val="000000"/>
                  </a:solidFill>
                  <a:latin typeface="Anonymous Pro Bold"/>
                  <a:ea typeface="Anonymous Pro Bold"/>
                  <a:cs typeface="Anonymous Pro Bold"/>
                  <a:sym typeface="Anonymous Pro Bold"/>
                </a:rPr>
                <a:t>FUNCIONES</a:t>
              </a:r>
            </a:p>
            <a:p>
              <a:pPr algn="ctr">
                <a:lnSpc>
                  <a:spcPts val="4158"/>
                </a:lnSpc>
              </a:pPr>
              <a:r>
                <a:rPr lang="en-US" b="true" sz="4892" spc="-166">
                  <a:solidFill>
                    <a:srgbClr val="000000"/>
                  </a:solidFill>
                  <a:latin typeface="Anonymous Pro Bold"/>
                  <a:ea typeface="Anonymous Pro Bold"/>
                  <a:cs typeface="Anonymous Pro Bold"/>
                  <a:sym typeface="Anonymous Pro Bold"/>
                </a:rPr>
                <a:t>PRINCIPALES</a:t>
              </a:r>
            </a:p>
          </p:txBody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632676" cy="1585180"/>
            </a:xfrm>
            <a:custGeom>
              <a:avLst/>
              <a:gdLst/>
              <a:ahLst/>
              <a:cxnLst/>
              <a:rect r="r" b="b" t="t" l="l"/>
              <a:pathLst>
                <a:path h="1585180" w="1632676">
                  <a:moveTo>
                    <a:pt x="0" y="0"/>
                  </a:moveTo>
                  <a:lnTo>
                    <a:pt x="1632676" y="0"/>
                  </a:lnTo>
                  <a:lnTo>
                    <a:pt x="1632676" y="1585180"/>
                  </a:lnTo>
                  <a:lnTo>
                    <a:pt x="0" y="158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2234550" y="4840750"/>
            <a:ext cx="3500567" cy="967429"/>
          </a:xfrm>
          <a:custGeom>
            <a:avLst/>
            <a:gdLst/>
            <a:ahLst/>
            <a:cxnLst/>
            <a:rect r="r" b="b" t="t" l="l"/>
            <a:pathLst>
              <a:path h="967429" w="3500567">
                <a:moveTo>
                  <a:pt x="0" y="0"/>
                </a:moveTo>
                <a:lnTo>
                  <a:pt x="3500567" y="0"/>
                </a:lnTo>
                <a:lnTo>
                  <a:pt x="3500567" y="967429"/>
                </a:lnTo>
                <a:lnTo>
                  <a:pt x="0" y="9674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13239386" y="4583575"/>
            <a:ext cx="3500567" cy="967429"/>
          </a:xfrm>
          <a:custGeom>
            <a:avLst/>
            <a:gdLst/>
            <a:ahLst/>
            <a:cxnLst/>
            <a:rect r="r" b="b" t="t" l="l"/>
            <a:pathLst>
              <a:path h="967429" w="3500567">
                <a:moveTo>
                  <a:pt x="0" y="0"/>
                </a:moveTo>
                <a:lnTo>
                  <a:pt x="3500567" y="0"/>
                </a:lnTo>
                <a:lnTo>
                  <a:pt x="3500567" y="967429"/>
                </a:lnTo>
                <a:lnTo>
                  <a:pt x="0" y="9674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11663873" y="362439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415313" y="6668170"/>
            <a:ext cx="6287715" cy="788256"/>
          </a:xfrm>
          <a:custGeom>
            <a:avLst/>
            <a:gdLst/>
            <a:ahLst/>
            <a:cxnLst/>
            <a:rect r="r" b="b" t="t" l="l"/>
            <a:pathLst>
              <a:path h="788256" w="6287715">
                <a:moveTo>
                  <a:pt x="0" y="0"/>
                </a:moveTo>
                <a:lnTo>
                  <a:pt x="6287715" y="0"/>
                </a:lnTo>
                <a:lnTo>
                  <a:pt x="6287715" y="788256"/>
                </a:lnTo>
                <a:lnTo>
                  <a:pt x="0" y="78825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93292" t="-474506" r="-94883" b="-970908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2785834" y="7656451"/>
            <a:ext cx="4366424" cy="737775"/>
          </a:xfrm>
          <a:custGeom>
            <a:avLst/>
            <a:gdLst/>
            <a:ahLst/>
            <a:cxnLst/>
            <a:rect r="r" b="b" t="t" l="l"/>
            <a:pathLst>
              <a:path h="737775" w="4366424">
                <a:moveTo>
                  <a:pt x="0" y="0"/>
                </a:moveTo>
                <a:lnTo>
                  <a:pt x="4366425" y="0"/>
                </a:lnTo>
                <a:lnTo>
                  <a:pt x="4366425" y="737775"/>
                </a:lnTo>
                <a:lnTo>
                  <a:pt x="0" y="7377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101421" t="-332694" r="-185770" b="-1107905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3057088" y="5752110"/>
            <a:ext cx="3823918" cy="714953"/>
          </a:xfrm>
          <a:custGeom>
            <a:avLst/>
            <a:gdLst/>
            <a:ahLst/>
            <a:cxnLst/>
            <a:rect r="r" b="b" t="t" l="l"/>
            <a:pathLst>
              <a:path h="714953" w="3823918">
                <a:moveTo>
                  <a:pt x="0" y="0"/>
                </a:moveTo>
                <a:lnTo>
                  <a:pt x="3823917" y="0"/>
                </a:lnTo>
                <a:lnTo>
                  <a:pt x="3823917" y="714954"/>
                </a:lnTo>
                <a:lnTo>
                  <a:pt x="0" y="71495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186438" t="-1450626" r="-318886" b="-386242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1109275" y="6361715"/>
            <a:ext cx="5751117" cy="700582"/>
          </a:xfrm>
          <a:custGeom>
            <a:avLst/>
            <a:gdLst/>
            <a:ahLst/>
            <a:cxnLst/>
            <a:rect r="r" b="b" t="t" l="l"/>
            <a:pathLst>
              <a:path h="700582" w="5751117">
                <a:moveTo>
                  <a:pt x="0" y="0"/>
                </a:moveTo>
                <a:lnTo>
                  <a:pt x="5751116" y="0"/>
                </a:lnTo>
                <a:lnTo>
                  <a:pt x="5751116" y="700583"/>
                </a:lnTo>
                <a:lnTo>
                  <a:pt x="0" y="70058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-229158" r="0" b="-508789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8" id="38"/>
          <p:cNvSpPr txBox="true"/>
          <p:nvPr/>
        </p:nvSpPr>
        <p:spPr>
          <a:xfrm rot="0">
            <a:off x="904261" y="7685026"/>
            <a:ext cx="10512074" cy="83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 spc="-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Modo temporal: elimina los archivos al salir</a:t>
            </a: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Funciones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523008" y="5238361"/>
            <a:ext cx="2983945" cy="30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5"/>
              </a:lnSpc>
            </a:pPr>
            <a:r>
              <a:rPr lang="en-US" b="true" sz="2536" spc="-8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MODO TEMPORAL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477074" y="4817618"/>
            <a:ext cx="2983945" cy="57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5"/>
              </a:lnSpc>
            </a:pPr>
            <a:r>
              <a:rPr lang="en-US" b="true" sz="2536" spc="-8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ENVIAR/DESCARGAR/</a:t>
            </a:r>
          </a:p>
          <a:p>
            <a:pPr algn="ctr">
              <a:lnSpc>
                <a:spcPts val="2155"/>
              </a:lnSpc>
            </a:pPr>
            <a:r>
              <a:rPr lang="en-US" b="true" sz="2536" spc="-8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ELIMINAR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507224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486400" y="3560757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3"/>
                </a:lnTo>
                <a:lnTo>
                  <a:pt x="0" y="15827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2161046" y="4598137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669013" y="4112093"/>
            <a:ext cx="6949975" cy="6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CASOS DE USO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4810484" y="3222702"/>
            <a:ext cx="1166694" cy="1132754"/>
          </a:xfrm>
          <a:custGeom>
            <a:avLst/>
            <a:gdLst/>
            <a:ahLst/>
            <a:cxnLst/>
            <a:rect r="r" b="b" t="t" l="l"/>
            <a:pathLst>
              <a:path h="1132754" w="1166694">
                <a:moveTo>
                  <a:pt x="0" y="0"/>
                </a:moveTo>
                <a:lnTo>
                  <a:pt x="1166694" y="0"/>
                </a:lnTo>
                <a:lnTo>
                  <a:pt x="1166694" y="1132753"/>
                </a:lnTo>
                <a:lnTo>
                  <a:pt x="0" y="11327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155770" y="5898413"/>
            <a:ext cx="9750631" cy="246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Entorno escolar: profesor ↔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alumnos</a:t>
            </a:r>
          </a:p>
          <a:p>
            <a:pPr algn="just">
              <a:lnSpc>
                <a:spcPts val="3250"/>
              </a:lnSpc>
            </a:pP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Oficina: empleados comparten reportes</a:t>
            </a:r>
          </a:p>
          <a:p>
            <a:pPr algn="just">
              <a:lnSpc>
                <a:spcPts val="3250"/>
              </a:lnSpc>
            </a:pPr>
          </a:p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Uso personal: PC ↔ notebook en la misma Wi-Fi</a:t>
            </a: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Casos de uso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519494" y="5654317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1" y="0"/>
                </a:lnTo>
                <a:lnTo>
                  <a:pt x="2986281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2241865" y="6168420"/>
            <a:ext cx="1541540" cy="1958076"/>
          </a:xfrm>
          <a:custGeom>
            <a:avLst/>
            <a:gdLst/>
            <a:ahLst/>
            <a:cxnLst/>
            <a:rect r="r" b="b" t="t" l="l"/>
            <a:pathLst>
              <a:path h="1958076" w="1541540">
                <a:moveTo>
                  <a:pt x="0" y="0"/>
                </a:moveTo>
                <a:lnTo>
                  <a:pt x="1541540" y="0"/>
                </a:lnTo>
                <a:lnTo>
                  <a:pt x="1541540" y="1958076"/>
                </a:lnTo>
                <a:lnTo>
                  <a:pt x="0" y="195807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65719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4782394" y="6288982"/>
            <a:ext cx="6752249" cy="1866076"/>
          </a:xfrm>
          <a:custGeom>
            <a:avLst/>
            <a:gdLst/>
            <a:ahLst/>
            <a:cxnLst/>
            <a:rect r="r" b="b" t="t" l="l"/>
            <a:pathLst>
              <a:path h="1866076" w="6752249">
                <a:moveTo>
                  <a:pt x="0" y="0"/>
                </a:moveTo>
                <a:lnTo>
                  <a:pt x="6752248" y="0"/>
                </a:lnTo>
                <a:lnTo>
                  <a:pt x="6752248" y="1866076"/>
                </a:lnTo>
                <a:lnTo>
                  <a:pt x="0" y="18660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4782394" y="7005767"/>
            <a:ext cx="6773350" cy="584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b="true" sz="4892" spc="-16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SEGURIDAD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619528" y="7341803"/>
            <a:ext cx="1224507" cy="1188885"/>
          </a:xfrm>
          <a:custGeom>
            <a:avLst/>
            <a:gdLst/>
            <a:ahLst/>
            <a:cxnLst/>
            <a:rect r="r" b="b" t="t" l="l"/>
            <a:pathLst>
              <a:path h="1188885" w="1224507">
                <a:moveTo>
                  <a:pt x="0" y="0"/>
                </a:moveTo>
                <a:lnTo>
                  <a:pt x="1224506" y="0"/>
                </a:lnTo>
                <a:lnTo>
                  <a:pt x="1224506" y="1188885"/>
                </a:lnTo>
                <a:lnTo>
                  <a:pt x="0" y="11888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204801" y="2885117"/>
            <a:ext cx="3452391" cy="3452391"/>
          </a:xfrm>
          <a:custGeom>
            <a:avLst/>
            <a:gdLst/>
            <a:ahLst/>
            <a:cxnLst/>
            <a:rect r="r" b="b" t="t" l="l"/>
            <a:pathLst>
              <a:path h="3452391" w="3452391">
                <a:moveTo>
                  <a:pt x="0" y="0"/>
                </a:moveTo>
                <a:lnTo>
                  <a:pt x="3452391" y="0"/>
                </a:lnTo>
                <a:lnTo>
                  <a:pt x="3452391" y="3452391"/>
                </a:lnTo>
                <a:lnTo>
                  <a:pt x="0" y="34523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463994" y="3819467"/>
            <a:ext cx="7305241" cy="246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Autenticación obligatoria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Contraseñas hasheadas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Modo temporal borra datos al salir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Restricción por IP local</a:t>
            </a: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Seguridad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1447081" y="7936245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508196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4013746" y="3815663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4"/>
                </a:lnTo>
                <a:lnTo>
                  <a:pt x="0" y="15827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4196359" y="4367000"/>
            <a:ext cx="6949975" cy="6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EJEMPLO DE CONEXION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826057" y="485304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485004" y="3477608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162043" y="3815663"/>
            <a:ext cx="2640953" cy="4114800"/>
          </a:xfrm>
          <a:custGeom>
            <a:avLst/>
            <a:gdLst/>
            <a:ahLst/>
            <a:cxnLst/>
            <a:rect r="r" b="b" t="t" l="l"/>
            <a:pathLst>
              <a:path h="4114800" w="2640953">
                <a:moveTo>
                  <a:pt x="0" y="0"/>
                </a:moveTo>
                <a:lnTo>
                  <a:pt x="2640953" y="0"/>
                </a:lnTo>
                <a:lnTo>
                  <a:pt x="26409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831133" y="5637361"/>
            <a:ext cx="7315200" cy="328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0"/>
              </a:lnSpc>
            </a:pP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El Host muestra 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su IP y nombre del sistema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El cliente ingresa ese nombre → se resuelve a IP automáticamente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Transferencia confirmada con mensajes “OK” en azul (DEBUG)</a:t>
            </a: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Multidesk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510929" y="3200357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5538489" y="9193555"/>
            <a:ext cx="1271608" cy="652980"/>
            <a:chOff x="0" y="0"/>
            <a:chExt cx="334909" cy="1719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0520691" y="3200357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306936" y="3076134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913379" y="4061237"/>
            <a:ext cx="2200907" cy="1264521"/>
          </a:xfrm>
          <a:custGeom>
            <a:avLst/>
            <a:gdLst/>
            <a:ahLst/>
            <a:cxnLst/>
            <a:rect r="r" b="b" t="t" l="l"/>
            <a:pathLst>
              <a:path h="1264521" w="2200907">
                <a:moveTo>
                  <a:pt x="0" y="0"/>
                </a:moveTo>
                <a:lnTo>
                  <a:pt x="2200907" y="0"/>
                </a:lnTo>
                <a:lnTo>
                  <a:pt x="2200907" y="1264522"/>
                </a:lnTo>
                <a:lnTo>
                  <a:pt x="0" y="126452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013832" y="5356615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7382751" y="9520045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736203" y="5870718"/>
            <a:ext cx="1541540" cy="1958076"/>
          </a:xfrm>
          <a:custGeom>
            <a:avLst/>
            <a:gdLst/>
            <a:ahLst/>
            <a:cxnLst/>
            <a:rect r="r" b="b" t="t" l="l"/>
            <a:pathLst>
              <a:path h="1958076" w="1541540">
                <a:moveTo>
                  <a:pt x="0" y="0"/>
                </a:moveTo>
                <a:lnTo>
                  <a:pt x="1541540" y="0"/>
                </a:lnTo>
                <a:lnTo>
                  <a:pt x="1541540" y="1958076"/>
                </a:lnTo>
                <a:lnTo>
                  <a:pt x="0" y="19580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778444" y="3962524"/>
            <a:ext cx="5263340" cy="205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SOLUCION A POSIBLES PROBLEMAS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306936" y="6492386"/>
            <a:ext cx="8502903" cy="246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Python no instalado → verificar versión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IP incorrecta → revisar red Wi-Fi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Puerto en uso → cambiar a 8080/8100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Usuario incorrecto → registrar de nuevo</a:t>
            </a:r>
          </a:p>
          <a:p>
            <a:pPr algn="just">
              <a:lnSpc>
                <a:spcPts val="3250"/>
              </a:lnSpc>
            </a:pP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Soluciones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102184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383611" y="6958268"/>
            <a:ext cx="8046484" cy="1740967"/>
          </a:xfrm>
          <a:custGeom>
            <a:avLst/>
            <a:gdLst/>
            <a:ahLst/>
            <a:cxnLst/>
            <a:rect r="r" b="b" t="t" l="l"/>
            <a:pathLst>
              <a:path h="1740967" w="8046484">
                <a:moveTo>
                  <a:pt x="0" y="0"/>
                </a:moveTo>
                <a:lnTo>
                  <a:pt x="8046485" y="0"/>
                </a:lnTo>
                <a:lnTo>
                  <a:pt x="8046485" y="1740967"/>
                </a:lnTo>
                <a:lnTo>
                  <a:pt x="0" y="17409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5495313" y="7563924"/>
            <a:ext cx="7750347" cy="71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8"/>
              </a:lnSpc>
            </a:pPr>
            <a:r>
              <a:rPr lang="en-US" b="true" sz="5916" spc="-20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PROCESO TECNICO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857904" y="6739937"/>
            <a:ext cx="1121439" cy="1088815"/>
          </a:xfrm>
          <a:custGeom>
            <a:avLst/>
            <a:gdLst/>
            <a:ahLst/>
            <a:cxnLst/>
            <a:rect r="r" b="b" t="t" l="l"/>
            <a:pathLst>
              <a:path h="1088815" w="1121439">
                <a:moveTo>
                  <a:pt x="0" y="0"/>
                </a:moveTo>
                <a:lnTo>
                  <a:pt x="1121439" y="0"/>
                </a:lnTo>
                <a:lnTo>
                  <a:pt x="1121439" y="1088815"/>
                </a:lnTo>
                <a:lnTo>
                  <a:pt x="0" y="10888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027368" y="919025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5"/>
                </a:lnTo>
                <a:lnTo>
                  <a:pt x="0" y="10907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404565" y="4675534"/>
            <a:ext cx="9766986" cy="246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0"/>
              </a:lnSpc>
            </a:pP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Uso de hilos (threading) para mantener el s</a:t>
            </a: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ervidor activo</a:t>
            </a:r>
          </a:p>
          <a:p>
            <a:pPr algn="just" marL="561341" indent="-280670" lvl="1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Pruebas locales entre equipos conectados al mismo router</a:t>
            </a:r>
          </a:p>
          <a:p>
            <a:pPr algn="just">
              <a:lnSpc>
                <a:spcPts val="325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85298" y="2844731"/>
            <a:ext cx="3719267" cy="804714"/>
          </a:xfrm>
          <a:custGeom>
            <a:avLst/>
            <a:gdLst/>
            <a:ahLst/>
            <a:cxnLst/>
            <a:rect r="r" b="b" t="t" l="l"/>
            <a:pathLst>
              <a:path h="804714" w="3719267">
                <a:moveTo>
                  <a:pt x="0" y="0"/>
                </a:moveTo>
                <a:lnTo>
                  <a:pt x="3719267" y="0"/>
                </a:lnTo>
                <a:lnTo>
                  <a:pt x="3719267" y="804715"/>
                </a:lnTo>
                <a:lnTo>
                  <a:pt x="0" y="8047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5060520" y="2844731"/>
            <a:ext cx="3719267" cy="804714"/>
          </a:xfrm>
          <a:custGeom>
            <a:avLst/>
            <a:gdLst/>
            <a:ahLst/>
            <a:cxnLst/>
            <a:rect r="r" b="b" t="t" l="l"/>
            <a:pathLst>
              <a:path h="804714" w="3719267">
                <a:moveTo>
                  <a:pt x="0" y="0"/>
                </a:moveTo>
                <a:lnTo>
                  <a:pt x="3719267" y="0"/>
                </a:lnTo>
                <a:lnTo>
                  <a:pt x="3719267" y="804715"/>
                </a:lnTo>
                <a:lnTo>
                  <a:pt x="0" y="8047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9387803" y="2844731"/>
            <a:ext cx="3719267" cy="804714"/>
          </a:xfrm>
          <a:custGeom>
            <a:avLst/>
            <a:gdLst/>
            <a:ahLst/>
            <a:cxnLst/>
            <a:rect r="r" b="b" t="t" l="l"/>
            <a:pathLst>
              <a:path h="804714" w="3719267">
                <a:moveTo>
                  <a:pt x="0" y="0"/>
                </a:moveTo>
                <a:lnTo>
                  <a:pt x="3719268" y="0"/>
                </a:lnTo>
                <a:lnTo>
                  <a:pt x="3719268" y="804715"/>
                </a:lnTo>
                <a:lnTo>
                  <a:pt x="0" y="8047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6" id="36"/>
          <p:cNvSpPr txBox="true"/>
          <p:nvPr/>
        </p:nvSpPr>
        <p:spPr>
          <a:xfrm rot="0">
            <a:off x="766489" y="3118695"/>
            <a:ext cx="3556884" cy="33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7"/>
              </a:lnSpc>
            </a:pPr>
            <a:r>
              <a:rPr lang="en-US" b="true" sz="2715" spc="-9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PLANIFICACION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41712" y="3118695"/>
            <a:ext cx="3556884" cy="33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7"/>
              </a:lnSpc>
            </a:pPr>
            <a:r>
              <a:rPr lang="en-US" b="true" sz="2715" spc="-9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DESARROLLO GUI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65597" y="3118695"/>
            <a:ext cx="3556884" cy="33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7"/>
              </a:lnSpc>
            </a:pPr>
            <a:r>
              <a:rPr lang="en-US" b="true" sz="2715" spc="-9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SERVIDOR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Procesos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3722481" y="2844731"/>
            <a:ext cx="3719267" cy="804714"/>
          </a:xfrm>
          <a:custGeom>
            <a:avLst/>
            <a:gdLst/>
            <a:ahLst/>
            <a:cxnLst/>
            <a:rect r="r" b="b" t="t" l="l"/>
            <a:pathLst>
              <a:path h="804714" w="3719267">
                <a:moveTo>
                  <a:pt x="0" y="0"/>
                </a:moveTo>
                <a:lnTo>
                  <a:pt x="3719267" y="0"/>
                </a:lnTo>
                <a:lnTo>
                  <a:pt x="3719267" y="804715"/>
                </a:lnTo>
                <a:lnTo>
                  <a:pt x="0" y="8047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1" id="41"/>
          <p:cNvSpPr txBox="true"/>
          <p:nvPr/>
        </p:nvSpPr>
        <p:spPr>
          <a:xfrm rot="0">
            <a:off x="14282893" y="3118695"/>
            <a:ext cx="2598442" cy="33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7"/>
              </a:lnSpc>
            </a:pPr>
            <a:r>
              <a:rPr lang="en-US" b="true" sz="2715" spc="-9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BASE DE DATOS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7302575" y="3775570"/>
            <a:ext cx="3719267" cy="804714"/>
          </a:xfrm>
          <a:custGeom>
            <a:avLst/>
            <a:gdLst/>
            <a:ahLst/>
            <a:cxnLst/>
            <a:rect r="r" b="b" t="t" l="l"/>
            <a:pathLst>
              <a:path h="804714" w="3719267">
                <a:moveTo>
                  <a:pt x="0" y="0"/>
                </a:moveTo>
                <a:lnTo>
                  <a:pt x="3719267" y="0"/>
                </a:lnTo>
                <a:lnTo>
                  <a:pt x="3719267" y="804714"/>
                </a:lnTo>
                <a:lnTo>
                  <a:pt x="0" y="804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3" id="43"/>
          <p:cNvSpPr txBox="true"/>
          <p:nvPr/>
        </p:nvSpPr>
        <p:spPr>
          <a:xfrm rot="0">
            <a:off x="7365558" y="4030483"/>
            <a:ext cx="3556884" cy="33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7"/>
              </a:lnSpc>
            </a:pPr>
            <a:r>
              <a:rPr lang="en-US" b="true" sz="2715" spc="-9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PRUEBAS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4431346" y="3057365"/>
            <a:ext cx="638700" cy="379446"/>
          </a:xfrm>
          <a:custGeom>
            <a:avLst/>
            <a:gdLst/>
            <a:ahLst/>
            <a:cxnLst/>
            <a:rect r="r" b="b" t="t" l="l"/>
            <a:pathLst>
              <a:path h="379446" w="638700">
                <a:moveTo>
                  <a:pt x="0" y="0"/>
                </a:moveTo>
                <a:lnTo>
                  <a:pt x="638699" y="0"/>
                </a:lnTo>
                <a:lnTo>
                  <a:pt x="638699" y="379447"/>
                </a:lnTo>
                <a:lnTo>
                  <a:pt x="0" y="37944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-16564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8768154" y="3057365"/>
            <a:ext cx="638700" cy="379446"/>
          </a:xfrm>
          <a:custGeom>
            <a:avLst/>
            <a:gdLst/>
            <a:ahLst/>
            <a:cxnLst/>
            <a:rect r="r" b="b" t="t" l="l"/>
            <a:pathLst>
              <a:path h="379446" w="638700">
                <a:moveTo>
                  <a:pt x="0" y="0"/>
                </a:moveTo>
                <a:lnTo>
                  <a:pt x="638699" y="0"/>
                </a:lnTo>
                <a:lnTo>
                  <a:pt x="638699" y="379447"/>
                </a:lnTo>
                <a:lnTo>
                  <a:pt x="0" y="37944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-16564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6" id="46"/>
          <p:cNvSpPr/>
          <p:nvPr/>
        </p:nvSpPr>
        <p:spPr>
          <a:xfrm flipH="false" flipV="false" rot="0">
            <a:off x="13098682" y="3027625"/>
            <a:ext cx="638700" cy="379446"/>
          </a:xfrm>
          <a:custGeom>
            <a:avLst/>
            <a:gdLst/>
            <a:ahLst/>
            <a:cxnLst/>
            <a:rect r="r" b="b" t="t" l="l"/>
            <a:pathLst>
              <a:path h="379446" w="638700">
                <a:moveTo>
                  <a:pt x="0" y="0"/>
                </a:moveTo>
                <a:lnTo>
                  <a:pt x="638699" y="0"/>
                </a:lnTo>
                <a:lnTo>
                  <a:pt x="638699" y="379446"/>
                </a:lnTo>
                <a:lnTo>
                  <a:pt x="0" y="37944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-16564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7" id="47"/>
          <p:cNvSpPr/>
          <p:nvPr/>
        </p:nvSpPr>
        <p:spPr>
          <a:xfrm flipH="false" flipV="false" rot="-10800000">
            <a:off x="10952271" y="4016779"/>
            <a:ext cx="638700" cy="379446"/>
          </a:xfrm>
          <a:custGeom>
            <a:avLst/>
            <a:gdLst/>
            <a:ahLst/>
            <a:cxnLst/>
            <a:rect r="r" b="b" t="t" l="l"/>
            <a:pathLst>
              <a:path h="379446" w="638700">
                <a:moveTo>
                  <a:pt x="0" y="0"/>
                </a:moveTo>
                <a:lnTo>
                  <a:pt x="638700" y="0"/>
                </a:lnTo>
                <a:lnTo>
                  <a:pt x="638700" y="379446"/>
                </a:lnTo>
                <a:lnTo>
                  <a:pt x="0" y="37944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-16564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48" id="48"/>
          <p:cNvSpPr/>
          <p:nvPr/>
        </p:nvSpPr>
        <p:spPr>
          <a:xfrm flipV="true">
            <a:off x="11334431" y="3673922"/>
            <a:ext cx="4410458" cy="629204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FF15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8605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834163" y="7374219"/>
            <a:ext cx="2558783" cy="553628"/>
          </a:xfrm>
          <a:custGeom>
            <a:avLst/>
            <a:gdLst/>
            <a:ahLst/>
            <a:cxnLst/>
            <a:rect r="r" b="b" t="t" l="l"/>
            <a:pathLst>
              <a:path h="553628" w="2558783">
                <a:moveTo>
                  <a:pt x="0" y="0"/>
                </a:moveTo>
                <a:lnTo>
                  <a:pt x="2558783" y="0"/>
                </a:lnTo>
                <a:lnTo>
                  <a:pt x="2558783" y="553628"/>
                </a:lnTo>
                <a:lnTo>
                  <a:pt x="0" y="553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3884679" y="3627641"/>
            <a:ext cx="10211437" cy="3499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99"/>
              </a:lnSpc>
            </a:pPr>
            <a:r>
              <a:rPr lang="en-US" b="true" sz="13499" spc="-458">
                <a:solidFill>
                  <a:srgbClr val="FF15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GRACIAS POR VER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Multigod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38042" y="7527005"/>
            <a:ext cx="2751025" cy="22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Multidesk.com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7713000" y="7374219"/>
            <a:ext cx="2558783" cy="553628"/>
          </a:xfrm>
          <a:custGeom>
            <a:avLst/>
            <a:gdLst/>
            <a:ahLst/>
            <a:cxnLst/>
            <a:rect r="r" b="b" t="t" l="l"/>
            <a:pathLst>
              <a:path h="553628" w="2558783">
                <a:moveTo>
                  <a:pt x="0" y="0"/>
                </a:moveTo>
                <a:lnTo>
                  <a:pt x="2558783" y="0"/>
                </a:lnTo>
                <a:lnTo>
                  <a:pt x="2558783" y="553628"/>
                </a:lnTo>
                <a:lnTo>
                  <a:pt x="0" y="553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3" id="33"/>
          <p:cNvSpPr txBox="true"/>
          <p:nvPr/>
        </p:nvSpPr>
        <p:spPr>
          <a:xfrm rot="0">
            <a:off x="7616879" y="7527005"/>
            <a:ext cx="2751025" cy="22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@humodesk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0587850" y="7374219"/>
            <a:ext cx="2558783" cy="553628"/>
          </a:xfrm>
          <a:custGeom>
            <a:avLst/>
            <a:gdLst/>
            <a:ahLst/>
            <a:cxnLst/>
            <a:rect r="r" b="b" t="t" l="l"/>
            <a:pathLst>
              <a:path h="553628" w="2558783">
                <a:moveTo>
                  <a:pt x="0" y="0"/>
                </a:moveTo>
                <a:lnTo>
                  <a:pt x="2558783" y="0"/>
                </a:lnTo>
                <a:lnTo>
                  <a:pt x="2558783" y="553628"/>
                </a:lnTo>
                <a:lnTo>
                  <a:pt x="0" y="553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5" id="35"/>
          <p:cNvSpPr txBox="true"/>
          <p:nvPr/>
        </p:nvSpPr>
        <p:spPr>
          <a:xfrm rot="0">
            <a:off x="10491729" y="7527005"/>
            <a:ext cx="2751025" cy="22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11 2334-4005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7501492" y="919025"/>
            <a:ext cx="523211" cy="890917"/>
          </a:xfrm>
          <a:custGeom>
            <a:avLst/>
            <a:gdLst/>
            <a:ahLst/>
            <a:cxnLst/>
            <a:rect r="r" b="b" t="t" l="l"/>
            <a:pathLst>
              <a:path h="890917" w="523211">
                <a:moveTo>
                  <a:pt x="0" y="0"/>
                </a:moveTo>
                <a:lnTo>
                  <a:pt x="523211" y="0"/>
                </a:lnTo>
                <a:lnTo>
                  <a:pt x="523211" y="890917"/>
                </a:lnTo>
                <a:lnTo>
                  <a:pt x="0" y="890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DAG4aLpyW60</dc:identifier>
  <dcterms:modified xsi:type="dcterms:W3CDTF">2011-08-01T06:04:30Z</dcterms:modified>
  <cp:revision>1</cp:revision>
  <dc:title>EXPODESK</dc:title>
</cp:coreProperties>
</file>